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4" r:id="rId29"/>
    <p:sldId id="283" r:id="rId3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03" d="100"/>
          <a:sy n="103" d="100"/>
        </p:scale>
        <p:origin x="2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B76-0292-DCC2-0381-1E75AA4EB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D6487D-578E-DE1F-B355-854238DDEA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039A8-163B-84FF-A9EF-6536A8A2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827D-628D-2961-7B91-E3AF8FCA3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64716-0987-17ED-0A41-DCBEFE2F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3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76563-2646-2E84-EE8E-780E3E8B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38AD-3AA4-028A-DF70-141EAB981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5CFCD-8AAC-A647-1015-2B8218AD3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F9220-FEF1-6295-B609-3E27060F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DC638-8FD5-8B91-7529-47A46F4CC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8781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4EC4-3A6D-F0C8-AD74-6D4AFA11A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FA96A-5973-BBB4-8961-190EE85BE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8C78D-23AA-A4A2-030C-AAB2CDED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FB253-7BA2-ED37-92F3-C0BA91FB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1AF2C-8FA9-9086-6DCE-3F7EBF4C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4502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91EA1-52AA-EBB6-9D05-E06810122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BC026-D132-2E1F-AD85-5AD29EEEA0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CD907-1501-3C08-97EE-4742B72D0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511AC-86E2-176D-1777-60DDFB539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8E46B-ED0F-75AE-806E-75019485B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3C09C-A0D9-2906-9590-3FA4950AC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5344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CA105-34F9-5C93-7821-06D4A9679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B81B02-EF8D-EEFC-A8CA-7305EEF12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75BA8F-D65A-F9DD-44B4-39FD350CC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2EBE29-3523-997C-66A4-A350D65B6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8E98C-2C11-03E3-35B3-39BE9E958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9F319A-A21D-0DDE-4A7A-7D373E76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E52F2-3DAC-497C-7E9A-93AB4F686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F48F34-F048-A87F-3719-9E8B7771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63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1BC7-9C9A-E111-0391-63074CF1C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B836D-F379-F6CD-7D1C-E3DE91905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D0F58A-2C31-7CD3-CEC6-27EFD5BC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A48D9-A72F-4E92-2A77-7BA009B63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2916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376CE2-E19E-E2D9-DA53-3E58877BF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6642A8-CA75-CE31-64BC-D555BD888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1CC73-E672-4481-C7EF-9DBEFE41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162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C47F6-61E0-EC8D-08AA-65B362F81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90FB6-233D-19D7-AC5B-4E210655B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B8D2C-922C-5357-FE56-2B8E9F8B7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EEB47-4359-57A6-8ECE-76835A291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A67B8-92C8-4706-806D-825AFC2E0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4EDD-F78E-5B4F-5D15-A97907E0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225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33FD1-3A77-4233-9CAA-3BA811EBB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5259B4-8306-F8B9-64ED-A0CEEBE8A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D1E91-1AD6-7587-D477-C58938A87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13C0A8-D746-10ED-E12D-C991FCD2B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12E30-EA05-C6BE-0E5A-A7FC10F18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6C0B6-A7CC-B22F-1C39-BA8773AB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28142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D8001-0E6C-6504-5428-463BECB1B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8197C4-768A-EE15-6F1E-5A2CC4A003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8E9B0-6B33-E786-10E5-97BFADF54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E7A33-B36E-BCAE-2651-D213F88C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26DA7-5ED5-34DF-DDFD-E2EA43CB8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7733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E9B19F-4C9A-5773-5C52-6840A27267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D79A1-ECB1-B885-4105-AE1C804CD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BBCED-E207-1D8D-3AC0-62B092FA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EBE98-E679-54F6-9517-91DC5821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B2FC0-01D6-2EFA-236B-40F7F08F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762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8F896B-A581-39BB-2987-57141485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F4F98-8431-4EF9-7793-6C99862E3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CFB3F-AD6E-D861-724A-E44A65589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78155-6F4B-422A-8293-ABDC14DF5819}" type="datetimeFigureOut">
              <a:rPr lang="it-IT" smtClean="0"/>
              <a:t>24/03/2026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E1B7C-E098-535E-8056-ABFE311C0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BB2A2-38E0-F3F7-9A20-0B3B7A51E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9EFB9-6771-4986-9108-C9E1B07B6863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647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B5F99-8FA8-0CBC-4118-D4761AA9FD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B292A5-C8AA-E86B-F27D-0FB2DEC21C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959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1AB87-661D-0A1F-3EBB-0380791B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ePROP mammoth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3166-4EBC-2A94-3E13-B7855B450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1196 input neurons -&gt; x -&gt; tensor with time and polarity of inputs</a:t>
            </a:r>
          </a:p>
          <a:p>
            <a:pPr lvl="1"/>
            <a:r>
              <a:rPr lang="it-IT" dirty="0"/>
              <a:t>30 seconds of inputs (T=30)</a:t>
            </a:r>
          </a:p>
          <a:p>
            <a:r>
              <a:rPr lang="it-IT" dirty="0"/>
              <a:t>100 recurrent neurons -&gt; v,z -&gt; leaking integrate and fire con leak </a:t>
            </a:r>
            <a:r>
              <a:rPr lang="it-IT" b="1" dirty="0"/>
              <a:t>alpha=0.05 (dt/t_m =0.1/2.) , </a:t>
            </a:r>
            <a:r>
              <a:rPr lang="it-IT" dirty="0"/>
              <a:t>threshold </a:t>
            </a:r>
            <a:r>
              <a:rPr lang="it-IT" b="1" dirty="0"/>
              <a:t>thr=0.3 </a:t>
            </a:r>
            <a:r>
              <a:rPr lang="it-IT" dirty="0"/>
              <a:t>e soft reset con z*thr</a:t>
            </a:r>
          </a:p>
          <a:p>
            <a:r>
              <a:rPr lang="it-IT" b="1" dirty="0"/>
              <a:t>10 </a:t>
            </a:r>
            <a:r>
              <a:rPr lang="it-IT" dirty="0"/>
              <a:t>output neurons working subthreshold with </a:t>
            </a:r>
            <a:r>
              <a:rPr lang="it-IT" b="1" dirty="0"/>
              <a:t>kappa=5</a:t>
            </a:r>
            <a:r>
              <a:rPr lang="it-IT" dirty="0"/>
              <a:t> (dt/t_o= 0.1/0.05) leakage and null biases bo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692565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FF4A-3A31-44F8-364F-AE6D7ADC7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A51DD-1FD9-1755-9AB5-4CC07AB14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3759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316A7-F32E-FD24-B180-FD8F8D310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Espinoza NMNIST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CE397-EF9F-FA77-0F97-535C11E37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4071" cy="4351338"/>
          </a:xfrm>
        </p:spPr>
        <p:txBody>
          <a:bodyPr/>
          <a:lstStyle/>
          <a:p>
            <a:r>
              <a:rPr lang="it-IT" dirty="0"/>
              <a:t>Dt=1 ms</a:t>
            </a:r>
          </a:p>
          <a:p>
            <a:r>
              <a:rPr lang="it-IT" dirty="0"/>
              <a:t>N_iter= 300 (T?)</a:t>
            </a:r>
          </a:p>
          <a:p>
            <a:r>
              <a:rPr lang="it-IT" dirty="0"/>
              <a:t>N_iter_test=10 ?</a:t>
            </a:r>
          </a:p>
          <a:p>
            <a:r>
              <a:rPr lang="it-IT" dirty="0"/>
              <a:t>Group size=100 ?</a:t>
            </a:r>
          </a:p>
          <a:p>
            <a:r>
              <a:rPr lang="it-IT" dirty="0"/>
              <a:t>Learning window=10ms ?</a:t>
            </a:r>
          </a:p>
          <a:p>
            <a:r>
              <a:rPr lang="it-IT" dirty="0"/>
              <a:t>Sequence duration T= 300 ms (10 times longer!)</a:t>
            </a:r>
          </a:p>
          <a:p>
            <a:r>
              <a:rPr lang="it-IT" dirty="0"/>
              <a:t>Loss function= Cross-Entropy</a:t>
            </a:r>
          </a:p>
          <a:p>
            <a:endParaRPr lang="it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6CE0BB-11E1-C79D-0CFA-4B199031436E}"/>
              </a:ext>
            </a:extLst>
          </p:cNvPr>
          <p:cNvSpPr txBox="1">
            <a:spLocks/>
          </p:cNvSpPr>
          <p:nvPr/>
        </p:nvSpPr>
        <p:spPr>
          <a:xfrm>
            <a:off x="5651091" y="1690688"/>
            <a:ext cx="43040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N_in=1196</a:t>
            </a:r>
          </a:p>
          <a:p>
            <a:r>
              <a:rPr lang="it-IT" dirty="0"/>
              <a:t>N_rec=150 </a:t>
            </a:r>
          </a:p>
          <a:p>
            <a:pPr lvl="1"/>
            <a:r>
              <a:rPr lang="it-IT" dirty="0"/>
              <a:t>(cm=1 pF, El=0, tau_m=30 ms, v_init=0, Ie=0, vth=0.6 mv, tref=0 ms, sg_beta (width)=1.7,sg_gamma (height)=0.5, Creg=2 ?, target fr=10 Hz)</a:t>
            </a:r>
          </a:p>
          <a:p>
            <a:r>
              <a:rPr lang="it-IT" dirty="0"/>
              <a:t>N_out=10</a:t>
            </a:r>
          </a:p>
          <a:p>
            <a:pPr lvl="1"/>
            <a:r>
              <a:rPr lang="it-IT" dirty="0"/>
              <a:t>Cm=1,El=0,tau_m=100  ms, v_init=0,Ie=0)</a:t>
            </a:r>
          </a:p>
          <a:p>
            <a:r>
              <a:rPr lang="it-IT" dirty="0"/>
              <a:t>Batch_size=1</a:t>
            </a:r>
          </a:p>
          <a:p>
            <a:r>
              <a:rPr lang="it-IT" dirty="0"/>
              <a:t>lr=0.005</a:t>
            </a:r>
          </a:p>
          <a:p>
            <a:r>
              <a:rPr lang="it-IT" dirty="0"/>
              <a:t>Wmin=-100 pA</a:t>
            </a:r>
          </a:p>
          <a:p>
            <a:r>
              <a:rPr lang="it-IT" dirty="0"/>
              <a:t>Wmax=100 pA</a:t>
            </a:r>
          </a:p>
          <a:p>
            <a:r>
              <a:rPr lang="it-IT" dirty="0"/>
              <a:t>Sparsity = (0.75,0.99,0.0)</a:t>
            </a:r>
          </a:p>
        </p:txBody>
      </p:sp>
    </p:spTree>
    <p:extLst>
      <p:ext uri="{BB962C8B-B14F-4D97-AF65-F5344CB8AC3E}">
        <p14:creationId xmlns:p14="http://schemas.microsoft.com/office/powerpoint/2010/main" val="1698938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BCB9E-3684-F741-F2DD-A5431E74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75F4-FA9A-0858-90F6-ACDDD9FA1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Espinoza NMNIST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304268B-E8FE-7C1E-1C1F-2B98C20B95F9}"/>
              </a:ext>
            </a:extLst>
          </p:cNvPr>
          <p:cNvSpPr txBox="1">
            <a:spLocks/>
          </p:cNvSpPr>
          <p:nvPr/>
        </p:nvSpPr>
        <p:spPr>
          <a:xfrm>
            <a:off x="7799010" y="1690688"/>
            <a:ext cx="430407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1FC2D6-B143-F013-A4C6-0AFCDA60F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06549"/>
            <a:ext cx="6648792" cy="10097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440EE2-AD6A-EE88-54FC-D8619C70E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16251"/>
            <a:ext cx="2762392" cy="9017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2B7357-709C-1755-0B16-ADF9BF6E8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161271"/>
            <a:ext cx="6229670" cy="9779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FEFBA8D-55FF-7DF6-5631-73B47ACFFB26}"/>
              </a:ext>
            </a:extLst>
          </p:cNvPr>
          <p:cNvSpPr txBox="1"/>
          <p:nvPr/>
        </p:nvSpPr>
        <p:spPr>
          <a:xfrm>
            <a:off x="7486992" y="4465580"/>
            <a:ext cx="3352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Threshold adaptation (not used)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0AA7B-F3CA-AF6D-E653-587FE333BD76}"/>
              </a:ext>
            </a:extLst>
          </p:cNvPr>
          <p:cNvSpPr txBox="1"/>
          <p:nvPr/>
        </p:nvSpPr>
        <p:spPr>
          <a:xfrm>
            <a:off x="7486991" y="3467124"/>
            <a:ext cx="727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Spike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9F9634-DA2B-7AE4-D37D-17F52B27F72F}"/>
              </a:ext>
            </a:extLst>
          </p:cNvPr>
          <p:cNvSpPr txBox="1"/>
          <p:nvPr/>
        </p:nvSpPr>
        <p:spPr>
          <a:xfrm>
            <a:off x="8001468" y="2326734"/>
            <a:ext cx="2606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Recurerrent neurons Vm</a:t>
            </a:r>
          </a:p>
        </p:txBody>
      </p:sp>
    </p:spTree>
    <p:extLst>
      <p:ext uri="{BB962C8B-B14F-4D97-AF65-F5344CB8AC3E}">
        <p14:creationId xmlns:p14="http://schemas.microsoft.com/office/powerpoint/2010/main" val="3826398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42F13-12BE-7A6D-6C1D-FC84C33DC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93EEC-B9DC-E91A-29B1-549DA3CC6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55406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5F8E-8D9D-B45C-5EF3-463CB7D2E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9F37-D7DE-F6C0-A9CD-ED3BADC73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402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DFF0-B085-F01C-9EBA-2F7CC527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B8F97-FCB6-E94B-6C6A-73BA6C3B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64877" cy="4351338"/>
          </a:xfrm>
        </p:spPr>
        <p:txBody>
          <a:bodyPr>
            <a:normAutofit lnSpcReduction="10000"/>
          </a:bodyPr>
          <a:lstStyle/>
          <a:p>
            <a:r>
              <a:rPr lang="it-IT" dirty="0"/>
              <a:t>n_t: 100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0.03</a:t>
            </a:r>
          </a:p>
          <a:p>
            <a:r>
              <a:rPr lang="it-IT" dirty="0"/>
              <a:t>  tau_o: 0.1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</a:t>
            </a:r>
          </a:p>
          <a:p>
            <a:pPr lvl="1"/>
            <a:r>
              <a:rPr lang="it-IT" dirty="0"/>
              <a:t>E_lambda=5000 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No lr_win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E9107C-A200-2B0B-9B72-88017A6CD86D}"/>
              </a:ext>
            </a:extLst>
          </p:cNvPr>
          <p:cNvSpPr txBox="1"/>
          <p:nvPr/>
        </p:nvSpPr>
        <p:spPr>
          <a:xfrm>
            <a:off x="5521688" y="1172408"/>
            <a:ext cx="609702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dirty="0"/>
              <a:t>Accuracy for 1 task(s):          [Class-IL]: 96.23 %     [Task-IL]: 96.23 %</a:t>
            </a:r>
          </a:p>
          <a:p>
            <a:r>
              <a:rPr lang="it-IT" dirty="0"/>
              <a:t>        Raw accuracy values: Class-IL [96.22641509433963] | Task-IL [96.22641509433963]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Accuracy for 2 task(s):          [Class-IL]: 26.21 %     [Task-IL]: 73.86 %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0.0, 52.42718446601942</a:t>
            </a:r>
            <a:r>
              <a:rPr lang="it-IT" dirty="0"/>
              <a:t>] | Task-IL [</a:t>
            </a:r>
            <a:r>
              <a:rPr lang="it-IT" b="1" dirty="0"/>
              <a:t>95.28301886792453, 52.42718446601942</a:t>
            </a:r>
            <a:r>
              <a:rPr lang="it-IT" dirty="0"/>
              <a:t>]</a:t>
            </a:r>
          </a:p>
          <a:p>
            <a:endParaRPr lang="it-IT" dirty="0"/>
          </a:p>
          <a:p>
            <a:r>
              <a:rPr lang="it-IT" dirty="0"/>
              <a:t>Accuracy for 3 task(s):          [Class-IL]: 16.84 %     [Task-IL]: 48.76 %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0.0, 0.0, 50.526315789473685</a:t>
            </a:r>
            <a:r>
              <a:rPr lang="it-IT" dirty="0"/>
              <a:t>] | Task-IL [</a:t>
            </a:r>
            <a:r>
              <a:rPr lang="it-IT" b="1" dirty="0"/>
              <a:t>46.22641509433962, 49.51456310679612, 50.526315789473685</a:t>
            </a:r>
            <a:r>
              <a:rPr lang="it-IT" dirty="0"/>
              <a:t>]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86958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7BA7A-AFF7-4E85-92BF-7F2CFB5D3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4BCC0-002E-A127-4F86-153D0AC09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0310" cy="4351338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n_t: 100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</a:t>
            </a:r>
            <a:r>
              <a:rPr lang="it-IT" b="1" dirty="0"/>
              <a:t>30</a:t>
            </a:r>
          </a:p>
          <a:p>
            <a:r>
              <a:rPr lang="it-IT" dirty="0"/>
              <a:t>  tau_o: </a:t>
            </a:r>
            <a:r>
              <a:rPr lang="it-IT" b="1" dirty="0"/>
              <a:t>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E_lambda=5000</a:t>
            </a:r>
          </a:p>
          <a:p>
            <a:r>
              <a:rPr lang="it-IT" dirty="0"/>
              <a:t>Lr = 0.005</a:t>
            </a:r>
          </a:p>
          <a:p>
            <a:r>
              <a:rPr lang="it-IT" b="1" dirty="0"/>
              <a:t>Lr_win =10 ts</a:t>
            </a:r>
          </a:p>
          <a:p>
            <a:r>
              <a:rPr lang="it-IT" b="1" dirty="0"/>
              <a:t>Test with 10 ts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8F902-D44F-F282-7FE9-8A20C27EF0C4}"/>
              </a:ext>
            </a:extLst>
          </p:cNvPr>
          <p:cNvSpPr txBox="1"/>
          <p:nvPr/>
        </p:nvSpPr>
        <p:spPr>
          <a:xfrm>
            <a:off x="6535812" y="1901046"/>
            <a:ext cx="5119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Task 1 Raw accuracy values: Class-IL [100.0] | Task-IL [100.0]</a:t>
            </a:r>
          </a:p>
          <a:p>
            <a:r>
              <a:rPr lang="en-US" dirty="0"/>
              <a:t>Task 2  Raw accuracy values: Class-IL [</a:t>
            </a:r>
            <a:r>
              <a:rPr lang="en-US" b="1" dirty="0"/>
              <a:t>60.37735849056604, 49.51456310679612</a:t>
            </a:r>
            <a:r>
              <a:rPr lang="en-US" dirty="0"/>
              <a:t>] | Task-IL [</a:t>
            </a:r>
            <a:r>
              <a:rPr lang="en-US" b="1" dirty="0"/>
              <a:t>100.0, 52.42718446601942</a:t>
            </a:r>
            <a:r>
              <a:rPr lang="en-US" dirty="0"/>
              <a:t>]</a:t>
            </a:r>
          </a:p>
          <a:p>
            <a:r>
              <a:rPr lang="en-US" dirty="0"/>
              <a:t>Task 3  Raw accuracy values: Class-IL [</a:t>
            </a:r>
            <a:r>
              <a:rPr lang="en-US" b="1" dirty="0"/>
              <a:t>0.0, 7.766990291262135, 75.78947368421053</a:t>
            </a:r>
            <a:r>
              <a:rPr lang="en-US" dirty="0"/>
              <a:t>] | Task-IL [</a:t>
            </a:r>
            <a:r>
              <a:rPr lang="en-US" b="1" dirty="0"/>
              <a:t>100.0, 59.22330097087378, 93.6842105263158</a:t>
            </a:r>
            <a:r>
              <a:rPr lang="en-US" dirty="0"/>
              <a:t>]</a:t>
            </a:r>
          </a:p>
          <a:p>
            <a:r>
              <a:rPr lang="en-US" dirty="0"/>
              <a:t>Task 4 Raw accuracy values: Class-IL [</a:t>
            </a:r>
            <a:r>
              <a:rPr lang="en-US" b="1" dirty="0"/>
              <a:t>0.0, 0.0, 0.0, 96.0</a:t>
            </a:r>
            <a:r>
              <a:rPr lang="en-US" dirty="0"/>
              <a:t>] | Task-IL [</a:t>
            </a:r>
            <a:r>
              <a:rPr lang="en-US" b="1" dirty="0"/>
              <a:t>100.0, 69.90291262135922, 91.57894736842105, 96.0</a:t>
            </a:r>
            <a:r>
              <a:rPr lang="en-US" dirty="0"/>
              <a:t>]</a:t>
            </a:r>
            <a:endParaRPr lang="it-IT" dirty="0"/>
          </a:p>
          <a:p>
            <a:r>
              <a:rPr lang="it-IT" dirty="0"/>
              <a:t>Task 5 Raw accuracy values: Class-IL [</a:t>
            </a:r>
            <a:r>
              <a:rPr lang="it-IT" b="1" dirty="0"/>
              <a:t>0.0, 0.0, 0.0, 2.0, 93.0</a:t>
            </a:r>
            <a:r>
              <a:rPr lang="it-IT" dirty="0"/>
              <a:t>] | Task-IL [</a:t>
            </a:r>
            <a:r>
              <a:rPr lang="it-IT" b="1" dirty="0"/>
              <a:t>100.0, 53.398058252427184, 95.78947368421052, 96.0, 93.0</a:t>
            </a:r>
            <a:r>
              <a:rPr lang="it-IT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256840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BF43A-C2E0-8DA2-F131-1449EA6B7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23199-5C1A-9AD1-D95B-F8C635A04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78F27-0F12-622C-33C5-CDA742B60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0310" cy="4351338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n_t: </a:t>
            </a:r>
            <a:r>
              <a:rPr lang="it-IT" b="1" dirty="0"/>
              <a:t>150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</a:t>
            </a:r>
            <a:r>
              <a:rPr lang="it-IT" b="1" dirty="0"/>
              <a:t>500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b="1" dirty="0"/>
              <a:t>Fr target 10, creg 2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986DD-151B-4DE8-1F0F-249FAFE556FF}"/>
              </a:ext>
            </a:extLst>
          </p:cNvPr>
          <p:cNvSpPr txBox="1"/>
          <p:nvPr/>
        </p:nvSpPr>
        <p:spPr>
          <a:xfrm>
            <a:off x="5009870" y="1185138"/>
            <a:ext cx="695433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Accuracy for 1 task(s):          [Class-IL]: 100.0 %     [Task-IL]: 100.0 %</a:t>
            </a:r>
          </a:p>
          <a:p>
            <a:r>
              <a:rPr lang="it-IT" dirty="0"/>
              <a:t>        Raw accuracy values: Class-IL [100.0] | Task-IL [100.0]</a:t>
            </a:r>
          </a:p>
          <a:p>
            <a:endParaRPr lang="it-IT" dirty="0"/>
          </a:p>
          <a:p>
            <a:r>
              <a:rPr lang="it-IT" dirty="0"/>
              <a:t>Accuracy for 2 task(s):          [Class-IL]: 58.76 %     [Task-IL]: 93.69 %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32.075471698113205, 85.43689320388349</a:t>
            </a:r>
            <a:r>
              <a:rPr lang="it-IT" dirty="0"/>
              <a:t>] | Task-IL [</a:t>
            </a:r>
            <a:r>
              <a:rPr lang="it-IT" b="1" dirty="0"/>
              <a:t>100.0, 87.37864077669903</a:t>
            </a:r>
            <a:r>
              <a:rPr lang="it-IT" dirty="0"/>
              <a:t>]</a:t>
            </a:r>
          </a:p>
          <a:p>
            <a:endParaRPr lang="it-IT" dirty="0"/>
          </a:p>
          <a:p>
            <a:r>
              <a:rPr lang="it-IT" dirty="0"/>
              <a:t>Accuracy for 3 task(s):          [Class-IL]: 33.59 %     [Task-IL]: 92.56 %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0.0, 66.01941747572816, 34.73684210526316</a:t>
            </a:r>
            <a:r>
              <a:rPr lang="it-IT" dirty="0"/>
              <a:t>] | Task-IL [</a:t>
            </a:r>
            <a:r>
              <a:rPr lang="it-IT" b="1" dirty="0"/>
              <a:t>100.0, 77.66990291262135, 100.0</a:t>
            </a:r>
            <a:r>
              <a:rPr lang="it-IT" dirty="0"/>
              <a:t>]</a:t>
            </a:r>
          </a:p>
          <a:p>
            <a:r>
              <a:rPr lang="it-IT" dirty="0"/>
              <a:t>Accuracy for 4 task(s):          [Class-IL]: 25.42 %     [Task-IL]: 87.25 %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0.0, 44.66019417475729, 0.0, 56.99999999999999</a:t>
            </a:r>
            <a:r>
              <a:rPr lang="it-IT" dirty="0"/>
              <a:t>] | Task-IL [</a:t>
            </a:r>
            <a:r>
              <a:rPr lang="it-IT" b="1" dirty="0"/>
              <a:t>100.0, 58.252427184466015, 94.73684210526315, 96.0</a:t>
            </a:r>
            <a:r>
              <a:rPr lang="it-IT" dirty="0"/>
              <a:t>]</a:t>
            </a:r>
          </a:p>
          <a:p>
            <a:endParaRPr lang="it-IT" dirty="0"/>
          </a:p>
          <a:p>
            <a:r>
              <a:rPr lang="it-IT" dirty="0"/>
              <a:t>Accuracy for 5 task(s):          [Class-IL]: 14.55 %     [Task-IL]: 80.28 %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0.0, 7.766990291262135, 0.0, 0.0, 65.0</a:t>
            </a:r>
            <a:r>
              <a:rPr lang="it-IT" dirty="0"/>
              <a:t>] | Task-IL [</a:t>
            </a:r>
            <a:r>
              <a:rPr lang="it-IT" b="1" dirty="0"/>
              <a:t>100.0, 70.87378640776699, 70.52631578947368, 95.0, 65.0</a:t>
            </a:r>
            <a:r>
              <a:rPr lang="it-IT" dirty="0"/>
              <a:t>]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84794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45619-D812-A08A-0781-F1490BB0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CE49-AD10-CEB0-5F58-45506C9E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AD865-55E9-41BE-BC9F-B9DBEA80B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0310" cy="4351338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N_rec=150</a:t>
            </a:r>
          </a:p>
          <a:p>
            <a:r>
              <a:rPr lang="it-IT" dirty="0"/>
              <a:t>n_t: 150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E_lambda=500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dirty="0"/>
              <a:t>Fr target 10, creg </a:t>
            </a:r>
            <a:r>
              <a:rPr lang="it-IT" b="1" dirty="0"/>
              <a:t>0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36F110-362F-EC09-6B50-72895ACBC41F}"/>
              </a:ext>
            </a:extLst>
          </p:cNvPr>
          <p:cNvSpPr txBox="1"/>
          <p:nvPr/>
        </p:nvSpPr>
        <p:spPr>
          <a:xfrm>
            <a:off x="5010150" y="1375649"/>
            <a:ext cx="704215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Accuracy for 1 task(s):          [Class-IL]: 100.0 %     [Task-IL]: 100.0 %</a:t>
            </a:r>
          </a:p>
          <a:p>
            <a:r>
              <a:rPr lang="it-IT" dirty="0"/>
              <a:t>        Raw accuracy values: Class-IL [100.0] | Task-IL [100.0]</a:t>
            </a:r>
          </a:p>
          <a:p>
            <a:r>
              <a:rPr lang="it-IT" dirty="0"/>
              <a:t>Accuracy for 2 task(s):          [Class-IL]: 76.21 %     [Task-IL]: 86.41 %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100.0, 52.42718446601942</a:t>
            </a:r>
            <a:r>
              <a:rPr lang="it-IT" dirty="0"/>
              <a:t>] | Task-IL [</a:t>
            </a:r>
            <a:r>
              <a:rPr lang="it-IT" b="1" dirty="0"/>
              <a:t>100.0, 72.81553398058253</a:t>
            </a:r>
            <a:r>
              <a:rPr lang="it-IT" dirty="0"/>
              <a:t>]</a:t>
            </a:r>
          </a:p>
          <a:p>
            <a:r>
              <a:rPr lang="it-IT" dirty="0"/>
              <a:t>Accuracy for 3 task(s):          [Class-IL]: 27.55 %     [Task-IL]: 79.85 %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29.245283018867923, 53.398058252427184, 0.0</a:t>
            </a:r>
            <a:r>
              <a:rPr lang="it-IT" dirty="0"/>
              <a:t>] | Task-IL [</a:t>
            </a:r>
            <a:r>
              <a:rPr lang="it-IT" b="1" dirty="0"/>
              <a:t>100.0, 55.33980582524271, 84.21052631578947</a:t>
            </a:r>
            <a:r>
              <a:rPr lang="it-IT" dirty="0"/>
              <a:t>]</a:t>
            </a:r>
          </a:p>
          <a:p>
            <a:endParaRPr lang="it-IT" dirty="0"/>
          </a:p>
          <a:p>
            <a:r>
              <a:rPr lang="it-IT" dirty="0"/>
              <a:t>Accuracy for 4 task(s):          [Class-IL]: 20.72 %     [Task-IL]: 75.0 %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0.0, 3.8834951456310676, 0.0, 79.0</a:t>
            </a:r>
            <a:r>
              <a:rPr lang="it-IT" dirty="0"/>
              <a:t>] | Task-IL [</a:t>
            </a:r>
            <a:r>
              <a:rPr lang="it-IT" b="1" dirty="0"/>
              <a:t>100.0, 50.48543689320388, 70.52631578947368, 79.0</a:t>
            </a:r>
            <a:r>
              <a:rPr lang="it-IT" dirty="0"/>
              <a:t>]</a:t>
            </a:r>
          </a:p>
          <a:p>
            <a:r>
              <a:rPr lang="it-IT" dirty="0"/>
              <a:t>Accuracy for 5 task(s):          [Class-IL]: 13.2 %      [Task-IL]: 72.51 %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0.0, 0.0, 0.0, 3.0, 63.0</a:t>
            </a:r>
            <a:r>
              <a:rPr lang="it-IT" dirty="0"/>
              <a:t>] | Task-IL [</a:t>
            </a:r>
            <a:r>
              <a:rPr lang="it-IT" b="1" dirty="0"/>
              <a:t>100.0, 51.45631067961165, 62.10526315789474, 86.0, 63.0</a:t>
            </a:r>
            <a:r>
              <a:rPr lang="it-IT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27606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DE86A-262E-11D2-223F-AB1DE9A24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857B4-EE65-CF74-AE7D-6C5D0AE08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7C634-3FF2-3EEB-9A34-02175515D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0310" cy="4351338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N_rec=150</a:t>
            </a:r>
          </a:p>
          <a:p>
            <a:r>
              <a:rPr lang="it-IT" dirty="0"/>
              <a:t>n_t: </a:t>
            </a:r>
            <a:r>
              <a:rPr lang="it-IT" b="1" dirty="0"/>
              <a:t>300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</a:t>
            </a:r>
            <a:r>
              <a:rPr lang="it-IT" b="1" dirty="0"/>
              <a:t>10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dirty="0"/>
              <a:t>Fr target 10, creg 0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9F0643-8A97-284D-9099-1CA208F051F0}"/>
              </a:ext>
            </a:extLst>
          </p:cNvPr>
          <p:cNvSpPr txBox="1"/>
          <p:nvPr/>
        </p:nvSpPr>
        <p:spPr>
          <a:xfrm>
            <a:off x="4749800" y="1690688"/>
            <a:ext cx="725805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Accuracy for 1 task(s):          [Class-IL]: 100.0 %     [Task-IL]: 100.0 %</a:t>
            </a:r>
          </a:p>
          <a:p>
            <a:r>
              <a:rPr lang="it-IT" dirty="0"/>
              <a:t>        Raw accuracy values: Class-IL [100.0] | Task-IL [100.0]</a:t>
            </a:r>
          </a:p>
          <a:p>
            <a:r>
              <a:rPr lang="it-IT" dirty="0"/>
              <a:t>Accuracy for 2 task(s):          [Class-IL]: 50.97 %     [Task-IL]: 97.09 %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100.0, 1.9417475728155338</a:t>
            </a:r>
            <a:r>
              <a:rPr lang="it-IT" dirty="0"/>
              <a:t>] | Task-IL [</a:t>
            </a:r>
            <a:r>
              <a:rPr lang="it-IT" b="1" dirty="0"/>
              <a:t>100.0, 94.1747572815534</a:t>
            </a:r>
            <a:r>
              <a:rPr lang="it-IT" dirty="0"/>
              <a:t>]</a:t>
            </a:r>
          </a:p>
          <a:p>
            <a:r>
              <a:rPr lang="it-IT" dirty="0"/>
              <a:t>Accuracy for 3 task(s):          [Class-IL]: 47.09 %     [Task-IL]: 76.88 %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100.0, 34.95145631067961, 6.315789473684211</a:t>
            </a:r>
            <a:r>
              <a:rPr lang="it-IT" dirty="0"/>
              <a:t>] | Task-IL [</a:t>
            </a:r>
            <a:r>
              <a:rPr lang="it-IT" b="1" dirty="0"/>
              <a:t>100.0, 61.165048543689316, 69.47368421052632</a:t>
            </a:r>
            <a:r>
              <a:rPr lang="it-IT" dirty="0"/>
              <a:t>]</a:t>
            </a:r>
          </a:p>
          <a:p>
            <a:r>
              <a:rPr lang="it-IT" dirty="0"/>
              <a:t>Accuracy for 4 task(s):          [Class-IL]: 25.23 %     [Task-IL]: 78.96 %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17.92452830188679, 0.0, 0.0, 83.0</a:t>
            </a:r>
            <a:r>
              <a:rPr lang="it-IT" dirty="0"/>
              <a:t>] | Task-IL [</a:t>
            </a:r>
            <a:r>
              <a:rPr lang="it-IT" b="1" dirty="0"/>
              <a:t>100.0, 66.99029126213593, 56.84210526315789, 92.0</a:t>
            </a:r>
            <a:r>
              <a:rPr lang="it-IT" dirty="0"/>
              <a:t>]</a:t>
            </a:r>
            <a:br>
              <a:rPr lang="it-IT" dirty="0"/>
            </a:br>
            <a:r>
              <a:rPr lang="it-IT" dirty="0"/>
              <a:t>Accuracy for 5 task(s):          [Class-IL]: 12.19 %     [Task-IL]: 74.83 %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0.9433962264150944, 0.0, 0.0, 12.0, 48.0</a:t>
            </a:r>
            <a:r>
              <a:rPr lang="it-IT" dirty="0"/>
              <a:t>] | Task-IL [</a:t>
            </a:r>
            <a:r>
              <a:rPr lang="it-IT" b="1" dirty="0"/>
              <a:t>100.0, 82.52427184466019, 52.63157894736842, 90.0, 49.0</a:t>
            </a:r>
            <a:r>
              <a:rPr lang="it-IT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730729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AF8BB-583B-EC16-552A-35AF253A3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031A-90EC-E93D-19CA-4C610736F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7B363-643F-273D-D934-017A91209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0310" cy="4351338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N_rec=150</a:t>
            </a:r>
          </a:p>
          <a:p>
            <a:r>
              <a:rPr lang="it-IT" dirty="0"/>
              <a:t>n_t: 300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</a:t>
            </a:r>
            <a:r>
              <a:rPr lang="it-IT" b="1" dirty="0"/>
              <a:t>0.5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dirty="0"/>
              <a:t>Fr target 10, creg 0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3D6C2-C049-C2D3-B30E-C0F58979F301}"/>
              </a:ext>
            </a:extLst>
          </p:cNvPr>
          <p:cNvSpPr txBox="1"/>
          <p:nvPr/>
        </p:nvSpPr>
        <p:spPr>
          <a:xfrm>
            <a:off x="5740400" y="2769950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dirty="0"/>
          </a:p>
          <a:p>
            <a:r>
              <a:rPr lang="it-IT" dirty="0"/>
              <a:t>Accuracy for 1 task(s):          [Class-IL]: 100.0 %     [Task-IL]: 100.0 %</a:t>
            </a:r>
          </a:p>
          <a:p>
            <a:r>
              <a:rPr lang="it-IT" dirty="0"/>
              <a:t>        Raw accuracy values: Class-IL [100.0] | Task-IL [100.0]</a:t>
            </a:r>
          </a:p>
          <a:p>
            <a:endParaRPr lang="it-IT" dirty="0"/>
          </a:p>
          <a:p>
            <a:r>
              <a:rPr lang="it-IT" dirty="0"/>
              <a:t>Accuracy for 2 task(s):          [Class-IL]: 50.49 %     [Task-IL]: 98.54 %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100.0, 0.9708737864077669</a:t>
            </a:r>
            <a:r>
              <a:rPr lang="it-IT" dirty="0"/>
              <a:t>] | Task-IL [</a:t>
            </a:r>
            <a:r>
              <a:rPr lang="it-IT" b="1" dirty="0"/>
              <a:t>100.0, 97.0873786407767</a:t>
            </a:r>
            <a:r>
              <a:rPr lang="it-IT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910736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398C9-1F1B-9A6D-1B7C-EA2BC78C2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47A2-9AB9-1F32-482F-8FD35E652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2A6B-BD29-6FDA-733B-91F924C28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0310" cy="4351338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N_rec=150</a:t>
            </a:r>
          </a:p>
          <a:p>
            <a:r>
              <a:rPr lang="it-IT" dirty="0"/>
              <a:t>n_t: 300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</a:t>
            </a:r>
            <a:r>
              <a:rPr lang="it-IT" b="1" dirty="0"/>
              <a:t>0.05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dirty="0"/>
              <a:t>Fr target 10, creg 0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6109-3E12-E415-9739-82CAB7F10694}"/>
              </a:ext>
            </a:extLst>
          </p:cNvPr>
          <p:cNvSpPr txBox="1"/>
          <p:nvPr/>
        </p:nvSpPr>
        <p:spPr>
          <a:xfrm>
            <a:off x="5511800" y="3124131"/>
            <a:ext cx="64071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Raw accuracy values: Class-IL [100.0] | Task-IL [100.0]</a:t>
            </a:r>
          </a:p>
          <a:p>
            <a:r>
              <a:rPr lang="it-IT" dirty="0"/>
              <a:t>Accuracy for 2 task(s):          [Class-IL]: 51.94 %     [Task-IL]: 96.6 %</a:t>
            </a:r>
          </a:p>
          <a:p>
            <a:r>
              <a:rPr lang="it-IT" dirty="0"/>
              <a:t>        Raw accuracy values: Class-IL [100.0, 3.8834951456310676] | Task-IL [100.0, 93.20388349514563]</a:t>
            </a:r>
          </a:p>
        </p:txBody>
      </p:sp>
    </p:spTree>
    <p:extLst>
      <p:ext uri="{BB962C8B-B14F-4D97-AF65-F5344CB8AC3E}">
        <p14:creationId xmlns:p14="http://schemas.microsoft.com/office/powerpoint/2010/main" val="658571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A074-9C2C-208F-A01A-C202F023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D9D12-1B22-2A67-D297-61F62B86D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500" y="1825625"/>
            <a:ext cx="63373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it-IT" dirty="0"/>
              <a:t>Accuracy for 1 task(s):          [Class-IL]: 100.0 %     [Task-IL]: 100.0 %</a:t>
            </a:r>
          </a:p>
          <a:p>
            <a:pPr marL="0" indent="0">
              <a:buNone/>
            </a:pPr>
            <a:r>
              <a:rPr lang="it-IT" dirty="0"/>
              <a:t>        Raw accuracy values: Class-IL [100.0] | Task-IL [100.0]</a:t>
            </a:r>
          </a:p>
          <a:p>
            <a:pPr marL="0" indent="0">
              <a:buNone/>
            </a:pPr>
            <a:r>
              <a:rPr lang="it-IT" dirty="0"/>
              <a:t>Accuracy for 2 task(s):          [Class-IL]: 68.69 %     [Task-IL]: 98.54 %</a:t>
            </a:r>
          </a:p>
          <a:p>
            <a:pPr marL="0" indent="0">
              <a:buNone/>
            </a:pPr>
            <a:r>
              <a:rPr lang="it-IT" dirty="0"/>
              <a:t>        Raw accuracy values: Class-IL [</a:t>
            </a:r>
            <a:r>
              <a:rPr lang="it-IT" b="1" dirty="0"/>
              <a:t>83.01886792452831, 54.36893203883495</a:t>
            </a:r>
            <a:r>
              <a:rPr lang="it-IT" dirty="0"/>
              <a:t>] | Task-IL [</a:t>
            </a:r>
            <a:r>
              <a:rPr lang="it-IT" b="1" dirty="0"/>
              <a:t>100.0, 97.0873786407767</a:t>
            </a:r>
            <a:r>
              <a:rPr lang="it-IT" dirty="0"/>
              <a:t>]</a:t>
            </a:r>
          </a:p>
          <a:p>
            <a:pPr marL="0" indent="0">
              <a:buNone/>
            </a:pPr>
            <a:r>
              <a:rPr lang="it-IT" dirty="0"/>
              <a:t>Accuracy for 3 task(s):          [Class-IL]: 36.54 %     [Task-IL]: 91.64 %</a:t>
            </a:r>
          </a:p>
          <a:p>
            <a:pPr marL="0" indent="0">
              <a:buNone/>
            </a:pPr>
            <a:r>
              <a:rPr lang="it-IT" dirty="0"/>
              <a:t>        Raw accuracy values: Class-IL [</a:t>
            </a:r>
            <a:r>
              <a:rPr lang="it-IT" b="1" dirty="0"/>
              <a:t>24.528301886792452, 1.9417475728155338, 83.15789473684211</a:t>
            </a:r>
            <a:r>
              <a:rPr lang="it-IT" dirty="0"/>
              <a:t>] | Task-IL [</a:t>
            </a:r>
            <a:r>
              <a:rPr lang="it-IT" b="1" dirty="0"/>
              <a:t>100.0, 85.43689320388349, 89.47368421052632</a:t>
            </a:r>
            <a:r>
              <a:rPr lang="it-IT" dirty="0"/>
              <a:t>]</a:t>
            </a:r>
          </a:p>
          <a:p>
            <a:pPr marL="0" indent="0">
              <a:buNone/>
            </a:pPr>
            <a:r>
              <a:rPr lang="it-IT" dirty="0"/>
              <a:t>Accuracy for 4 task(s):          [Class-IL]: 24.51 %     [Task-IL]: 96.75 %</a:t>
            </a:r>
          </a:p>
          <a:p>
            <a:pPr marL="0" indent="0">
              <a:buNone/>
            </a:pPr>
            <a:r>
              <a:rPr lang="it-IT" dirty="0"/>
              <a:t>        Raw accuracy values: Class-IL [</a:t>
            </a:r>
            <a:r>
              <a:rPr lang="it-IT" b="1" dirty="0"/>
              <a:t>0.9433962264150944, 0.0, 2.1052631578947367, 95.0</a:t>
            </a:r>
            <a:r>
              <a:rPr lang="it-IT" dirty="0"/>
              <a:t>] | Task-IL [</a:t>
            </a:r>
            <a:r>
              <a:rPr lang="it-IT" b="1" dirty="0"/>
              <a:t>100.0, 95.14563106796116, 96.84210526315789, 95.0</a:t>
            </a:r>
            <a:r>
              <a:rPr lang="it-IT" dirty="0"/>
              <a:t>]</a:t>
            </a:r>
          </a:p>
          <a:p>
            <a:pPr marL="0" indent="0">
              <a:buNone/>
            </a:pPr>
            <a:r>
              <a:rPr lang="it-IT" dirty="0"/>
              <a:t>Accuracy for 5 task(s):          [Class-IL]: 15.0 %      [Task-IL]: 81.41 %</a:t>
            </a:r>
          </a:p>
          <a:p>
            <a:pPr marL="0" indent="0">
              <a:buNone/>
            </a:pPr>
            <a:r>
              <a:rPr lang="it-IT" dirty="0"/>
              <a:t>        Raw accuracy values: Class-IL [</a:t>
            </a:r>
            <a:r>
              <a:rPr lang="it-IT" b="1" dirty="0"/>
              <a:t>0.0, 0.0, 0.0, 0.0, 75.0</a:t>
            </a:r>
            <a:r>
              <a:rPr lang="it-IT" dirty="0"/>
              <a:t>] | Task-IL [</a:t>
            </a:r>
            <a:r>
              <a:rPr lang="it-IT" b="1" dirty="0"/>
              <a:t>100.0, 50.48543689320388, 91.57894736842105, 90.0, 75.0</a:t>
            </a:r>
            <a:r>
              <a:rPr lang="it-IT" dirty="0"/>
              <a:t>]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F08F863-0259-C60B-A574-0114726B04A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7203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N_rec=150</a:t>
            </a:r>
          </a:p>
          <a:p>
            <a:r>
              <a:rPr lang="it-IT" dirty="0"/>
              <a:t>n_t: 300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E_lambda=0.05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dirty="0"/>
              <a:t>Fr target 10, creg 0</a:t>
            </a:r>
          </a:p>
          <a:p>
            <a:r>
              <a:rPr lang="it-IT" dirty="0"/>
              <a:t>Weight_align: </a:t>
            </a:r>
            <a:r>
              <a:rPr lang="it-IT" b="1" dirty="0"/>
              <a:t>true</a:t>
            </a:r>
            <a:r>
              <a:rPr lang="it-IT" dirty="0"/>
              <a:t> </a:t>
            </a:r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90042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0240-2A2A-1A8F-EA6F-5989192F0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7FD2D-6D01-14B5-19F7-A92992D3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1214ECB-622D-93F9-B00A-C555505AE53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7203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N_rec=150</a:t>
            </a:r>
          </a:p>
          <a:p>
            <a:r>
              <a:rPr lang="it-IT" dirty="0"/>
              <a:t>n_t: 300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</a:t>
            </a:r>
            <a:r>
              <a:rPr lang="it-IT" b="1" dirty="0"/>
              <a:t>10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dirty="0"/>
              <a:t>Fr target 10, creg 0</a:t>
            </a:r>
          </a:p>
          <a:p>
            <a:r>
              <a:rPr lang="it-IT" dirty="0"/>
              <a:t>Weight_align: true </a:t>
            </a:r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161E2B-8713-3286-92F6-1A50CFE4E374}"/>
              </a:ext>
            </a:extLst>
          </p:cNvPr>
          <p:cNvSpPr txBox="1"/>
          <p:nvPr/>
        </p:nvSpPr>
        <p:spPr>
          <a:xfrm>
            <a:off x="5720014" y="1224237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[Class-IL]: 100.0 %     [Task-IL]: 100.0 %</a:t>
            </a:r>
          </a:p>
          <a:p>
            <a:r>
              <a:rPr lang="it-IT" dirty="0"/>
              <a:t>        Raw accuracy values: Class-IL [100.0] | Task-IL [100.0]</a:t>
            </a:r>
          </a:p>
          <a:p>
            <a:r>
              <a:rPr lang="it-IT" dirty="0"/>
              <a:t>Accuracy for 2 task(s):          [Class-IL]: 63.61 %     [Task-IL]: 97.09 %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99.057, 28.155</a:t>
            </a:r>
            <a:r>
              <a:rPr lang="it-IT" dirty="0"/>
              <a:t>] | Task-IL [</a:t>
            </a:r>
            <a:r>
              <a:rPr lang="it-IT" b="1" dirty="0"/>
              <a:t>100.0, 94.175</a:t>
            </a:r>
            <a:r>
              <a:rPr lang="it-IT" dirty="0"/>
              <a:t>]</a:t>
            </a:r>
          </a:p>
          <a:p>
            <a:r>
              <a:rPr lang="it-IT" dirty="0"/>
              <a:t>Accuracy for 3 task(s):          [Class-IL]: 45.33 %     [Task-IL]: 85.11 %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46.226, 33.981, 55.789</a:t>
            </a:r>
            <a:r>
              <a:rPr lang="it-IT" dirty="0"/>
              <a:t>] | Task-IL [</a:t>
            </a:r>
            <a:r>
              <a:rPr lang="it-IT" b="1" dirty="0"/>
              <a:t>100.0, 67.961, 87.368</a:t>
            </a:r>
            <a:r>
              <a:rPr lang="it-IT" dirty="0"/>
              <a:t>]</a:t>
            </a:r>
          </a:p>
          <a:p>
            <a:r>
              <a:rPr lang="it-IT" dirty="0"/>
              <a:t>Accuracy for 4 task(s):          [Class-IL]: 26.55 %     [Task-IL]: 79.79 %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29.245, 0.971, 0.0, 76.0</a:t>
            </a:r>
            <a:r>
              <a:rPr lang="it-IT" dirty="0"/>
              <a:t>] | Task-IL [</a:t>
            </a:r>
            <a:r>
              <a:rPr lang="it-IT" b="1" dirty="0"/>
              <a:t>100.0, 57.282, 77.895, 84.0</a:t>
            </a:r>
            <a:r>
              <a:rPr lang="it-IT" dirty="0"/>
              <a:t>]</a:t>
            </a:r>
          </a:p>
          <a:p>
            <a:r>
              <a:rPr lang="it-IT" dirty="0"/>
              <a:t>Accuracy for 5 task(s):          [Class-IL]: 14.19 %     [Task-IL]: 78.88 %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0.943, 0.0, 0.0, 2.0, 68.0</a:t>
            </a:r>
            <a:r>
              <a:rPr lang="it-IT" dirty="0"/>
              <a:t>] | Task-IL [</a:t>
            </a:r>
            <a:r>
              <a:rPr lang="it-IT" b="1" dirty="0"/>
              <a:t>100.0, 53.398, 80.0, 93.0, 68.0</a:t>
            </a:r>
            <a:r>
              <a:rPr lang="it-IT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126710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EE8C1-1E0D-8241-BB3A-472546A5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4C80-2D4F-5240-C3A6-65E0553A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516A9E-6F6B-5424-DA0B-E5640AFBBEC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7203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N_rec=</a:t>
            </a:r>
            <a:r>
              <a:rPr lang="it-IT" b="1" dirty="0"/>
              <a:t>300</a:t>
            </a:r>
          </a:p>
          <a:p>
            <a:r>
              <a:rPr lang="it-IT" dirty="0"/>
              <a:t>n_t: 300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E_lambda=10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dirty="0"/>
              <a:t>Fr target 10, creg 0</a:t>
            </a:r>
          </a:p>
          <a:p>
            <a:r>
              <a:rPr lang="it-IT" dirty="0"/>
              <a:t>Weight_align: true </a:t>
            </a:r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C6380B-0F0C-D546-ED22-830903C26B81}"/>
              </a:ext>
            </a:extLst>
          </p:cNvPr>
          <p:cNvSpPr txBox="1"/>
          <p:nvPr/>
        </p:nvSpPr>
        <p:spPr>
          <a:xfrm>
            <a:off x="5139890" y="2016135"/>
            <a:ext cx="66850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Accuracy for 1 task(s):          [Class-IL]: 100.0 %     [Task-IL]: 100.0 %</a:t>
            </a:r>
          </a:p>
          <a:p>
            <a:r>
              <a:rPr lang="it-IT" dirty="0"/>
              <a:t>        Raw accuracy values: Class-IL [100.0] | Task-IL [100.0]</a:t>
            </a:r>
          </a:p>
          <a:p>
            <a:r>
              <a:rPr lang="it-IT" dirty="0"/>
              <a:t>Accuracy for 2 task(s):          [Class-IL]: 76.23 %     [Task-IL]: 96.6 %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99.057, 53.398</a:t>
            </a:r>
            <a:r>
              <a:rPr lang="it-IT" dirty="0"/>
              <a:t>] | Task-IL [</a:t>
            </a:r>
            <a:r>
              <a:rPr lang="it-IT" b="1" dirty="0"/>
              <a:t>100.0, 93.204</a:t>
            </a:r>
            <a:r>
              <a:rPr lang="it-IT" dirty="0"/>
              <a:t>]</a:t>
            </a:r>
          </a:p>
          <a:p>
            <a:r>
              <a:rPr lang="it-IT" dirty="0"/>
              <a:t>Accuracy for 3 task(s):          [Class-IL]: 36.96 %     [Task-IL]: 92.18 %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9.434, 7.767, 93.684</a:t>
            </a:r>
            <a:r>
              <a:rPr lang="it-IT" dirty="0"/>
              <a:t>] | Task-IL [</a:t>
            </a:r>
            <a:r>
              <a:rPr lang="it-IT" b="1" dirty="0"/>
              <a:t>100.0, 78.641, 97.895</a:t>
            </a:r>
            <a:r>
              <a:rPr lang="it-IT" dirty="0"/>
              <a:t>]</a:t>
            </a:r>
          </a:p>
          <a:p>
            <a:r>
              <a:rPr lang="it-IT" dirty="0"/>
              <a:t>Accuracy for 4 task(s):          [Class-IL]: 24.25 %     [Task-IL]: 88.04 %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0.0, 0.0, 0.0, 97.0</a:t>
            </a:r>
            <a:r>
              <a:rPr lang="it-IT" dirty="0"/>
              <a:t>] | Task-IL [</a:t>
            </a:r>
            <a:r>
              <a:rPr lang="it-IT" b="1" dirty="0"/>
              <a:t>100.0, 57.282, 97.895, 97.0</a:t>
            </a:r>
            <a:r>
              <a:rPr lang="it-IT" dirty="0"/>
              <a:t>]</a:t>
            </a:r>
          </a:p>
          <a:p>
            <a:r>
              <a:rPr lang="it-IT" dirty="0"/>
              <a:t>Accuracy for 5 task(s):          [Class-IL]: 22.2 %      [Task-IL]: 92.15 %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0.0, 0.0, 0.0, 18.0, 93.0</a:t>
            </a:r>
            <a:r>
              <a:rPr lang="it-IT" dirty="0"/>
              <a:t>] | Task-IL [</a:t>
            </a:r>
            <a:r>
              <a:rPr lang="it-IT" b="1" dirty="0"/>
              <a:t>98.113, 73.786, 96.842, 99.0, 93.0</a:t>
            </a:r>
            <a:r>
              <a:rPr lang="it-IT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257852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E4056-C33B-A5F6-A7C2-8E6656BA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45F4E-8B92-E257-FB45-393B5FFC7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F07B90-0EA1-592E-20FA-0BC29A4C300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7203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N_rec=300</a:t>
            </a:r>
          </a:p>
          <a:p>
            <a:r>
              <a:rPr lang="it-IT" dirty="0"/>
              <a:t>n_t: 300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E_lambda=1000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dirty="0"/>
              <a:t>Fr target 10, creg 0</a:t>
            </a:r>
          </a:p>
          <a:p>
            <a:r>
              <a:rPr lang="it-IT" dirty="0"/>
              <a:t>Weight_align: true </a:t>
            </a:r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  <a:p>
            <a:endParaRPr lang="it-IT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05792A-879A-5908-E878-9FB275765E6F}"/>
              </a:ext>
            </a:extLst>
          </p:cNvPr>
          <p:cNvSpPr txBox="1"/>
          <p:nvPr/>
        </p:nvSpPr>
        <p:spPr>
          <a:xfrm>
            <a:off x="4902200" y="2016135"/>
            <a:ext cx="6731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Accuracy for 1 task(s):          [Class-IL]: 100.0 %     [Task-IL]: 100.0 %</a:t>
            </a:r>
          </a:p>
          <a:p>
            <a:r>
              <a:rPr lang="it-IT" dirty="0"/>
              <a:t>        Raw accuracy values: Class-IL [100.0] | Task-IL [100.0]</a:t>
            </a:r>
          </a:p>
          <a:p>
            <a:r>
              <a:rPr lang="it-IT" dirty="0"/>
              <a:t>Accuracy for 2 task(s):          [Class-IL]: 70.39 %     [Task-IL]: 95.63 %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100.0, 40.777</a:t>
            </a:r>
            <a:r>
              <a:rPr lang="it-IT" dirty="0"/>
              <a:t>] | Task-IL [100.0, 91.262]</a:t>
            </a:r>
          </a:p>
          <a:p>
            <a:r>
              <a:rPr lang="it-IT" dirty="0"/>
              <a:t>Accuracy for 3 task(s):          [Class-IL]: 45.72 %     [Task-IL]: 86.73 %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23.585, 26.214, 87.368</a:t>
            </a:r>
            <a:r>
              <a:rPr lang="it-IT" dirty="0"/>
              <a:t>] | Task-IL [100.0, 60.194, 100.0]</a:t>
            </a:r>
          </a:p>
          <a:p>
            <a:r>
              <a:rPr lang="it-IT" dirty="0"/>
              <a:t>Accuracy for 4 task(s):          [Class-IL]: 26.7 %      [Task-IL]: 89.04 %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1.887, 5.825, 2.105, 97.0</a:t>
            </a:r>
            <a:r>
              <a:rPr lang="it-IT" dirty="0"/>
              <a:t>] | Task-IL [100.0, 60.194, 98.947, 97.0]</a:t>
            </a:r>
          </a:p>
          <a:p>
            <a:r>
              <a:rPr lang="it-IT" dirty="0"/>
              <a:t>Accuracy for 5 task(s):          [Class-IL]: 21.2 %      [Task-IL]: 88.64 %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0.0, 0.0, 0.0, 23.0, 83.0</a:t>
            </a:r>
            <a:r>
              <a:rPr lang="it-IT" dirty="0"/>
              <a:t>] | Task-IL [98.113, 63.107, 100.0, 98.0, 84.0]</a:t>
            </a:r>
          </a:p>
        </p:txBody>
      </p:sp>
    </p:spTree>
    <p:extLst>
      <p:ext uri="{BB962C8B-B14F-4D97-AF65-F5344CB8AC3E}">
        <p14:creationId xmlns:p14="http://schemas.microsoft.com/office/powerpoint/2010/main" val="1112901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D459-9C2E-E33E-BA57-E66D88294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034E1-66FF-6E5D-4995-412BECDC0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3511378" cy="4772665"/>
          </a:xfrm>
        </p:spPr>
        <p:txBody>
          <a:bodyPr>
            <a:normAutofit fontScale="62500" lnSpcReduction="20000"/>
          </a:bodyPr>
          <a:lstStyle/>
          <a:p>
            <a:r>
              <a:rPr lang="it-IT" dirty="0"/>
              <a:t>N_rec=150</a:t>
            </a:r>
          </a:p>
          <a:p>
            <a:r>
              <a:rPr lang="it-IT" dirty="0"/>
              <a:t>n_t: 100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E_lambda=1000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dirty="0"/>
              <a:t>Fr target 10, creg 0</a:t>
            </a:r>
          </a:p>
          <a:p>
            <a:r>
              <a:rPr lang="it-IT" dirty="0"/>
              <a:t>Weight_align: true</a:t>
            </a:r>
          </a:p>
          <a:p>
            <a:r>
              <a:rPr lang="it-IT" dirty="0"/>
              <a:t>Mean vo[-lr_win:] per test</a:t>
            </a:r>
          </a:p>
          <a:p>
            <a:r>
              <a:rPr lang="it-IT" dirty="0"/>
              <a:t>Last lr_win vo per train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01BF29-BFC8-9C40-D94B-6BAE414D9CB5}"/>
              </a:ext>
            </a:extLst>
          </p:cNvPr>
          <p:cNvSpPr txBox="1"/>
          <p:nvPr/>
        </p:nvSpPr>
        <p:spPr>
          <a:xfrm>
            <a:off x="4349578" y="2073974"/>
            <a:ext cx="68533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Accuracy for 1 task(s):          [Class-IL]: 100.0 %     [Task-IL]: 100.0 %</a:t>
            </a:r>
          </a:p>
          <a:p>
            <a:r>
              <a:rPr lang="it-IT" dirty="0"/>
              <a:t>        Raw accuracy values: Class-IL [100.0] | Task-IL [100.0]</a:t>
            </a:r>
          </a:p>
          <a:p>
            <a:r>
              <a:rPr lang="it-IT" dirty="0"/>
              <a:t>Accuracy for 2 task(s):          [Class-IL]: 83.44 %     [Task-IL]: 98.06 %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70.755, 96.117</a:t>
            </a:r>
            <a:r>
              <a:rPr lang="it-IT" dirty="0"/>
              <a:t>] | Task-IL [</a:t>
            </a:r>
            <a:r>
              <a:rPr lang="it-IT" b="1" dirty="0"/>
              <a:t>100.0, 96.117</a:t>
            </a:r>
            <a:r>
              <a:rPr lang="it-IT" dirty="0"/>
              <a:t>]</a:t>
            </a:r>
          </a:p>
          <a:p>
            <a:r>
              <a:rPr lang="it-IT" dirty="0"/>
              <a:t>Accuracy for 3 task(s):          [Class-IL]: 32.96 %     [Task-IL]: 85.06 %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0.0, 0.971, 97.895</a:t>
            </a:r>
            <a:r>
              <a:rPr lang="it-IT" dirty="0"/>
              <a:t>] | Task-IL [</a:t>
            </a:r>
            <a:r>
              <a:rPr lang="it-IT" b="1" dirty="0"/>
              <a:t>100.0, 57.282, 97.895</a:t>
            </a:r>
            <a:r>
              <a:rPr lang="it-IT" dirty="0"/>
              <a:t>]</a:t>
            </a:r>
          </a:p>
          <a:p>
            <a:endParaRPr lang="it-IT" dirty="0"/>
          </a:p>
          <a:p>
            <a:r>
              <a:rPr lang="it-IT" dirty="0"/>
              <a:t>Accuracy for 4 task(s):          [Class-IL]: 26.87 %     [Task-IL]: 85.69 %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0.0, 0.0, 9.474, 98.0</a:t>
            </a:r>
            <a:r>
              <a:rPr lang="it-IT" dirty="0"/>
              <a:t>] | Task-IL [</a:t>
            </a:r>
            <a:r>
              <a:rPr lang="it-IT" b="1" dirty="0"/>
              <a:t>94.34, 50.485, 98.947, 99.0</a:t>
            </a:r>
            <a:r>
              <a:rPr lang="it-IT" dirty="0"/>
              <a:t>]</a:t>
            </a:r>
          </a:p>
          <a:p>
            <a:endParaRPr lang="it-IT" dirty="0"/>
          </a:p>
          <a:p>
            <a:r>
              <a:rPr lang="it-IT" dirty="0"/>
              <a:t>Accuracy for 5 task(s):          [Class-IL]: 27.4 %      [Task-IL]: 85.36 %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0.0, 0.0, 0.0, 50.0, 87.0</a:t>
            </a:r>
            <a:r>
              <a:rPr lang="it-IT" dirty="0"/>
              <a:t>] | Task-IL [</a:t>
            </a:r>
            <a:r>
              <a:rPr lang="it-IT" b="1" dirty="0"/>
              <a:t>91.509, 50.485, 95.789, 95.0, 94.0</a:t>
            </a:r>
            <a:r>
              <a:rPr lang="it-IT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945731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A5B46-A214-5934-6090-8DF6E0713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9FF74-DA7E-6284-ABEE-156E82E63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Qualche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F91E0-DAD7-BC5C-2B3D-CCC42BAD7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511378" cy="4859380"/>
          </a:xfrm>
        </p:spPr>
        <p:txBody>
          <a:bodyPr>
            <a:normAutofit fontScale="62500" lnSpcReduction="20000"/>
          </a:bodyPr>
          <a:lstStyle/>
          <a:p>
            <a:r>
              <a:rPr lang="it-IT" dirty="0"/>
              <a:t>N_rec=500</a:t>
            </a:r>
          </a:p>
          <a:p>
            <a:r>
              <a:rPr lang="it-IT" dirty="0"/>
              <a:t>n_t: 100</a:t>
            </a:r>
          </a:p>
          <a:p>
            <a:r>
              <a:rPr lang="it-IT" dirty="0"/>
              <a:t>  thr: .6</a:t>
            </a:r>
          </a:p>
          <a:p>
            <a:r>
              <a:rPr lang="it-IT" dirty="0"/>
              <a:t>  tau_m: 30</a:t>
            </a:r>
          </a:p>
          <a:p>
            <a:r>
              <a:rPr lang="it-IT" dirty="0"/>
              <a:t>  tau_o: 100</a:t>
            </a:r>
          </a:p>
          <a:p>
            <a:r>
              <a:rPr lang="it-IT" dirty="0"/>
              <a:t>  gamma: 0.5</a:t>
            </a:r>
          </a:p>
          <a:p>
            <a:r>
              <a:rPr lang="it-IT" dirty="0"/>
              <a:t> use_ewc: true </a:t>
            </a:r>
          </a:p>
          <a:p>
            <a:pPr lvl="1"/>
            <a:r>
              <a:rPr lang="it-IT" dirty="0"/>
              <a:t>E_lambda=10000</a:t>
            </a:r>
          </a:p>
          <a:p>
            <a:r>
              <a:rPr lang="it-IT" dirty="0"/>
              <a:t>Lr = 0.005</a:t>
            </a:r>
          </a:p>
          <a:p>
            <a:r>
              <a:rPr lang="it-IT" dirty="0"/>
              <a:t>Lr_win =10 ts</a:t>
            </a:r>
          </a:p>
          <a:p>
            <a:r>
              <a:rPr lang="it-IT" dirty="0"/>
              <a:t>Test with 10 ts</a:t>
            </a:r>
          </a:p>
          <a:p>
            <a:r>
              <a:rPr lang="it-IT" dirty="0"/>
              <a:t>Fr target 10, creg 0</a:t>
            </a:r>
          </a:p>
          <a:p>
            <a:r>
              <a:rPr lang="it-IT" dirty="0"/>
              <a:t>Weight_align: true</a:t>
            </a:r>
          </a:p>
          <a:p>
            <a:r>
              <a:rPr lang="it-IT" dirty="0"/>
              <a:t>Mean vo[-lr_win:] per test</a:t>
            </a:r>
          </a:p>
          <a:p>
            <a:r>
              <a:rPr lang="it-IT" dirty="0"/>
              <a:t>Last lr_win vo per train 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DA16A-18BE-5AB7-A472-08B147FB2EF9}"/>
              </a:ext>
            </a:extLst>
          </p:cNvPr>
          <p:cNvSpPr txBox="1"/>
          <p:nvPr/>
        </p:nvSpPr>
        <p:spPr>
          <a:xfrm>
            <a:off x="4714102" y="2073975"/>
            <a:ext cx="68533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Accuracy for 1 task(s):          [Class-IL]: 100.0 %     [Task-IL]: 100.0 %</a:t>
            </a:r>
          </a:p>
          <a:p>
            <a:r>
              <a:rPr lang="it-IT" dirty="0"/>
              <a:t>        Raw accuracy values: Class-IL [100.0] | Task-IL [100.0]</a:t>
            </a:r>
          </a:p>
          <a:p>
            <a:r>
              <a:rPr lang="it-IT" dirty="0"/>
              <a:t>Accuracy for 2 task(s):          [Class-IL]: 82.52 %     [Task-IL]: 99.03 %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66.981, 98.058</a:t>
            </a:r>
            <a:r>
              <a:rPr lang="it-IT" dirty="0"/>
              <a:t>] | Task-IL [</a:t>
            </a:r>
            <a:r>
              <a:rPr lang="it-IT" b="1" dirty="0"/>
              <a:t>100.0, 98.058</a:t>
            </a:r>
            <a:r>
              <a:rPr lang="it-IT" dirty="0"/>
              <a:t>]</a:t>
            </a:r>
          </a:p>
          <a:p>
            <a:r>
              <a:rPr lang="it-IT" dirty="0"/>
              <a:t>Accuracy for 3 task(s):          [Class-IL]: 33.33 %     [Task-IL]: 83.5 %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0.0, 100.0]</a:t>
            </a:r>
            <a:r>
              <a:rPr lang="it-IT" dirty="0"/>
              <a:t> | Task-IL [</a:t>
            </a:r>
            <a:r>
              <a:rPr lang="it-IT" b="1" dirty="0"/>
              <a:t>100.0, 50.485, 100.0</a:t>
            </a:r>
            <a:r>
              <a:rPr lang="it-IT" dirty="0"/>
              <a:t>]</a:t>
            </a:r>
          </a:p>
          <a:p>
            <a:r>
              <a:rPr lang="it-IT" dirty="0"/>
              <a:t>Accuracy for 4 task(s):          [Class-IL]: 24.75 %     [Task-IL]: 87.11 %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0.0, 0.0, 0.0, 99.0</a:t>
            </a:r>
            <a:r>
              <a:rPr lang="it-IT" dirty="0"/>
              <a:t>] | Task-IL [</a:t>
            </a:r>
            <a:r>
              <a:rPr lang="it-IT" b="1" dirty="0"/>
              <a:t>100.0, 50.485, 98.947, 99.0</a:t>
            </a:r>
            <a:r>
              <a:rPr lang="it-IT" dirty="0"/>
              <a:t>]</a:t>
            </a:r>
          </a:p>
          <a:p>
            <a:r>
              <a:rPr lang="it-IT" dirty="0"/>
              <a:t>Accuracy for 5 task(s):          [Class-IL]: 25.4 %      [Task-IL]: 88.49 %</a:t>
            </a:r>
          </a:p>
          <a:p>
            <a:r>
              <a:rPr lang="it-IT" dirty="0"/>
              <a:t>        Raw accuracy values: Class-IL [</a:t>
            </a:r>
            <a:r>
              <a:rPr lang="it-IT" b="1" dirty="0"/>
              <a:t>0.0, 0.0, 0.0, 48.0, 79.0</a:t>
            </a:r>
            <a:r>
              <a:rPr lang="it-IT" dirty="0"/>
              <a:t>] | Task-IL [</a:t>
            </a:r>
            <a:r>
              <a:rPr lang="it-IT" b="1" dirty="0"/>
              <a:t>100.0, 50.485, 98.947, 97.0, 96.0</a:t>
            </a:r>
            <a:r>
              <a:rPr lang="it-IT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96333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31FA9-3DF7-1781-CC1E-5D470B47C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669F7E-436F-D431-00D7-F49924E6E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21619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9AFD8-0691-3913-8808-427F0D22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38E8A-8E2E-251E-15C1-400616A1C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617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1FB04-DEF3-E222-F693-8CFFADB5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52F4F-C741-2878-3A2C-B96162D5D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1521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641A8-072C-F282-42CD-6738F53A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48631-3EF5-237F-12FE-DDEFBE09F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15168" cy="4351338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No ewc:</a:t>
            </a:r>
          </a:p>
          <a:p>
            <a:pPr marL="0" indent="0">
              <a:buNone/>
            </a:pPr>
            <a:r>
              <a:rPr lang="en-US" dirty="0"/>
              <a:t>Task 1: Raw accuracy values: Class-IL </a:t>
            </a:r>
            <a:r>
              <a:rPr lang="en-US" b="1" dirty="0"/>
              <a:t>[99.716] | Task-IL [99.716]</a:t>
            </a:r>
          </a:p>
          <a:p>
            <a:pPr marL="0" indent="0">
              <a:buNone/>
            </a:pPr>
            <a:r>
              <a:rPr lang="en-US" dirty="0"/>
              <a:t>Task 2: Raw accuracy values: Class-IL</a:t>
            </a:r>
            <a:r>
              <a:rPr lang="en-US" b="1" dirty="0"/>
              <a:t> [88.747, 81.293] | Task-IL [92.009, 85.064]</a:t>
            </a:r>
          </a:p>
          <a:p>
            <a:pPr marL="0" indent="0">
              <a:buNone/>
            </a:pPr>
            <a:r>
              <a:rPr lang="en-US" dirty="0"/>
              <a:t>Task 3: Raw accuracy values: Class-IL </a:t>
            </a:r>
            <a:r>
              <a:rPr lang="en-US" b="1" dirty="0"/>
              <a:t>[46.194, 36.925, 47.279] | Task-IL [92.813, 52.351, 47.599]</a:t>
            </a:r>
          </a:p>
          <a:p>
            <a:pPr marL="0" indent="0">
              <a:buNone/>
            </a:pPr>
            <a:r>
              <a:rPr lang="en-US" dirty="0"/>
              <a:t>Task4: Raw accuracy values: Class-IL</a:t>
            </a:r>
            <a:r>
              <a:rPr lang="en-US" b="1" dirty="0"/>
              <a:t> [27.849, 25.563, 0.0, 48.137] | Task-IL [74.326, 51.371, 47.599, 48.338]</a:t>
            </a:r>
          </a:p>
          <a:p>
            <a:pPr marL="0" indent="0">
              <a:buNone/>
            </a:pPr>
            <a:r>
              <a:rPr lang="en-US" dirty="0"/>
              <a:t>Task 5: Raw accuracy values: Class-IL</a:t>
            </a:r>
            <a:r>
              <a:rPr lang="en-US" b="1" dirty="0"/>
              <a:t> [21.891, 0.0, 0.0, 0.0, 50.832] | Task-IL [68.322, 50.539, 47.599, 48.238, 50.832]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977563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4520E-91D7-84C4-D50A-3B6281464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A0F-F0B1-569D-1D4C-A8C60C46F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CAC90-F7D8-6E88-3D9B-EC435732C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2112" y="1825625"/>
            <a:ext cx="4061255" cy="435133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Task 1: Raw accuracy values:  Class-IL </a:t>
            </a:r>
            <a:r>
              <a:rPr lang="en-US" b="1" dirty="0"/>
              <a:t>[99.716] | Task-IL [99.716]</a:t>
            </a:r>
          </a:p>
          <a:p>
            <a:pPr marL="0" indent="0">
              <a:buNone/>
            </a:pPr>
            <a:r>
              <a:rPr lang="en-US" dirty="0"/>
              <a:t>Task 2: Raw accuracy </a:t>
            </a:r>
            <a:r>
              <a:rPr lang="en-US" dirty="0" err="1"/>
              <a:t>values:Class-IL</a:t>
            </a:r>
            <a:r>
              <a:rPr lang="en-US" dirty="0"/>
              <a:t> </a:t>
            </a:r>
            <a:r>
              <a:rPr lang="en-US" b="1" dirty="0"/>
              <a:t>[77.069, 74.29] | Task-IL [81.655, 74.339]</a:t>
            </a:r>
          </a:p>
          <a:p>
            <a:pPr marL="0" indent="0">
              <a:buNone/>
            </a:pPr>
            <a:r>
              <a:rPr lang="en-US" dirty="0"/>
              <a:t>Task 3: Raw accuracy values: Class-IL</a:t>
            </a:r>
            <a:r>
              <a:rPr lang="en-US" b="1" dirty="0"/>
              <a:t> [48.842, 52.547, 45.624] | Task-IL [97.541, 57.835, 47.599]</a:t>
            </a:r>
          </a:p>
          <a:p>
            <a:pPr marL="0" indent="0">
              <a:buNone/>
            </a:pPr>
            <a:r>
              <a:rPr lang="en-US" dirty="0"/>
              <a:t>Task4:  Raw accuracy values: Class-IL </a:t>
            </a:r>
            <a:r>
              <a:rPr lang="en-US" b="1" dirty="0"/>
              <a:t>[48.889, 50.539, 0.0, 44.411] | Task-IL [96.832, 66.308, 47.599, 48.238]</a:t>
            </a:r>
          </a:p>
          <a:p>
            <a:pPr marL="0" indent="0">
              <a:buNone/>
            </a:pPr>
            <a:r>
              <a:rPr lang="en-US" dirty="0"/>
              <a:t>Task 5: Raw accuracy values: </a:t>
            </a:r>
            <a:r>
              <a:rPr lang="en-US" b="1" dirty="0"/>
              <a:t> Class-IL [45.957, 52.106, 0.0, 0.0, 50.429] | Task-IL [96.312, 57.689, 47.599, 48.238, 56.178]</a:t>
            </a:r>
            <a:endParaRPr lang="it-IT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AEF02E-9780-249E-1C2C-BE5E3A27C76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061254" cy="4859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backbone MNISTMPL</a:t>
            </a:r>
          </a:p>
          <a:p>
            <a:r>
              <a:rPr lang="it-IT" b="1" dirty="0"/>
              <a:t>Ewc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E_lambda: 10</a:t>
            </a:r>
          </a:p>
          <a:p>
            <a:pPr lvl="1"/>
            <a:r>
              <a:rPr lang="it-IT" dirty="0"/>
              <a:t>Gamma: 5</a:t>
            </a:r>
          </a:p>
          <a:p>
            <a:r>
              <a:rPr lang="it-IT" dirty="0"/>
              <a:t>Alpha</a:t>
            </a:r>
            <a:r>
              <a:rPr lang="it-IT"/>
              <a:t>=0.3</a:t>
            </a:r>
            <a:endParaRPr lang="it-IT" dirty="0"/>
          </a:p>
          <a:p>
            <a:r>
              <a:rPr lang="it-IT" dirty="0"/>
              <a:t>Lr=0.03</a:t>
            </a:r>
          </a:p>
          <a:p>
            <a:r>
              <a:rPr lang="it-IT" dirty="0"/>
              <a:t>N_epochs=1</a:t>
            </a:r>
          </a:p>
          <a:p>
            <a:r>
              <a:rPr lang="it-IT" dirty="0"/>
              <a:t>Batch_size=10</a:t>
            </a:r>
          </a:p>
          <a:p>
            <a:r>
              <a:rPr lang="it-IT" dirty="0"/>
              <a:t>Optimizer= </a:t>
            </a:r>
            <a:r>
              <a:rPr lang="it-IT" b="1" dirty="0"/>
              <a:t>adam</a:t>
            </a:r>
          </a:p>
          <a:p>
            <a:endParaRPr lang="it-IT" dirty="0"/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85434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72A85-CE7E-1A5C-4EC8-34C30D90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BD8D-D7BF-0D2F-1F46-063586773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A96F2-F3F1-9560-37FF-DD2378CF4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908" y="1837982"/>
            <a:ext cx="6503773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Accurac</a:t>
            </a:r>
            <a:r>
              <a:rPr lang="en-US" dirty="0"/>
              <a:t>y for 1 task(s):   [Class-IL]: 99.76 %   [Task-IL]: 99.76 %</a:t>
            </a:r>
          </a:p>
          <a:p>
            <a:pPr marL="0" indent="0">
              <a:buNone/>
            </a:pPr>
            <a:r>
              <a:rPr lang="en-US" dirty="0"/>
              <a:t>Raw </a:t>
            </a:r>
            <a:r>
              <a:rPr lang="en-US" dirty="0">
                <a:effectLst/>
              </a:rPr>
              <a:t>accurac</a:t>
            </a:r>
            <a:r>
              <a:rPr lang="en-US" dirty="0"/>
              <a:t>y values: Class-IL [99.764] | Task-IL [99.764]</a:t>
            </a:r>
            <a:endParaRPr lang="en-US" dirty="0">
              <a:effectLst/>
            </a:endParaRPr>
          </a:p>
          <a:p>
            <a:pPr marL="0" indent="0">
              <a:buNone/>
            </a:pPr>
            <a:r>
              <a:rPr lang="en-US" dirty="0">
                <a:effectLst/>
              </a:rPr>
              <a:t>Accurac</a:t>
            </a:r>
            <a:r>
              <a:rPr lang="en-US" dirty="0"/>
              <a:t>y for 2 task(s):   [Class-IL]: 94.91 %   [Task-IL]: 97.89 %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Raw accuracy values: Class-IL [93.097, 96.719] | Task-IL [98.96, 96.817]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Accuracy for 3 task(s):   [Class-IL]: 71.35 %   [Task-IL]: 94.53 %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Raw accuracy values: Class-IL [89.787, 31.146, 93.116] | Task-IL [99.48, 88.051, 96.051]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Accur</a:t>
            </a:r>
            <a:r>
              <a:rPr lang="en-US" dirty="0"/>
              <a:t>acy for 4 task(s):   [Class-IL]: 57.23 %   [Task-IL]: 90.65 %</a:t>
            </a:r>
          </a:p>
          <a:p>
            <a:pPr marL="0" indent="0">
              <a:buNone/>
            </a:pPr>
            <a:r>
              <a:rPr lang="en-US" dirty="0"/>
              <a:t>Raw accuracy values: Class-IL [69.22, 34.721, 35.912, 89.074] | Task-IL [96.643, 74.682, 95.251, 96.022]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Accur</a:t>
            </a:r>
            <a:r>
              <a:rPr lang="en-US" dirty="0"/>
              <a:t>acy for 5 task(s):   [Class-IL]: </a:t>
            </a:r>
            <a:r>
              <a:rPr lang="en-US" b="1" dirty="0"/>
              <a:t>35.25</a:t>
            </a:r>
            <a:r>
              <a:rPr lang="en-US" dirty="0"/>
              <a:t> %   [Task-IL]: 86.34 %</a:t>
            </a:r>
            <a:endParaRPr lang="it-IT" dirty="0"/>
          </a:p>
          <a:p>
            <a:pPr marL="0" indent="0">
              <a:buNone/>
            </a:pPr>
            <a:r>
              <a:rPr lang="en-US" dirty="0"/>
              <a:t>Raw accuracy values: Class-IL [65.579, 13.271, 0.0, 19.94, 77.458] | Task-IL [98.014, 69.295, 93.063, 91.289, 80.03]</a:t>
            </a:r>
            <a:endParaRPr lang="it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F585DB8-9928-DAFC-EE02-9D81C38CE7A0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061254" cy="4859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backbone MNISTMPL</a:t>
            </a:r>
          </a:p>
          <a:p>
            <a:r>
              <a:rPr lang="it-IT" dirty="0"/>
              <a:t>Ewc </a:t>
            </a:r>
          </a:p>
          <a:p>
            <a:pPr lvl="1"/>
            <a:r>
              <a:rPr lang="it-IT" dirty="0"/>
              <a:t>E_lambda: 10</a:t>
            </a:r>
          </a:p>
          <a:p>
            <a:pPr lvl="1"/>
            <a:r>
              <a:rPr lang="it-IT" dirty="0"/>
              <a:t>Gamma: 5</a:t>
            </a:r>
          </a:p>
          <a:p>
            <a:r>
              <a:rPr lang="it-IT" dirty="0"/>
              <a:t>Alpha=0.2</a:t>
            </a:r>
          </a:p>
          <a:p>
            <a:r>
              <a:rPr lang="it-IT" dirty="0"/>
              <a:t>Lr=0.03</a:t>
            </a:r>
          </a:p>
          <a:p>
            <a:r>
              <a:rPr lang="it-IT" dirty="0"/>
              <a:t>N_epochs=1</a:t>
            </a:r>
          </a:p>
          <a:p>
            <a:r>
              <a:rPr lang="it-IT" dirty="0"/>
              <a:t>Batch_size=10</a:t>
            </a:r>
          </a:p>
          <a:p>
            <a:r>
              <a:rPr lang="it-IT" dirty="0"/>
              <a:t>Optimizer= </a:t>
            </a:r>
            <a:r>
              <a:rPr lang="it-IT" b="1" dirty="0"/>
              <a:t>adam</a:t>
            </a:r>
          </a:p>
          <a:p>
            <a:endParaRPr lang="it-IT" dirty="0"/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716648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01F8-CDB4-E040-F4B7-AB9CF79EA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05B1C-1091-ABE1-A6A7-FCB43C4B2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908" y="1837982"/>
            <a:ext cx="6503773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Accuracy for 1 task(s):   [Class-IL]: 99.91 %   [Task-IL]: 99.91 %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Raw accuracy values: Class-IL [99.905] | Task-IL [99.905]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Accuracy for 2 task(s):   [Class-IL]: 97.06 %   [Task-IL]: 99.12 %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ffectLst/>
              </a:rPr>
              <a:t>Raw accuracy values: Class-IL [95.934, 98.188] | Task-IL [99.811, 98.433]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Accuracy for 3 task(s):   [Class-IL]: 94.98 %   [Task-IL]: 99.41 %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Raw accuracy values: Class-IL [96.643, 89.422, 98.879] | Task-IL [99.716, 98.678, 99.84]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Accurac</a:t>
            </a:r>
            <a:r>
              <a:rPr lang="en-US" dirty="0"/>
              <a:t>y for 4 task(s):   [Class-IL]: 92.42 %   [Task-IL]: 99.25 %</a:t>
            </a:r>
          </a:p>
          <a:p>
            <a:pPr marL="0" indent="0">
              <a:buNone/>
            </a:pPr>
            <a:r>
              <a:rPr lang="en-US" dirty="0"/>
              <a:t>Raw accuracy values: Class-IL [95.839, 87.561, 87.94, 98.338] | Task-IL [99.858, 98.041, 99.253, 99.849]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Accurac</a:t>
            </a:r>
            <a:r>
              <a:rPr lang="en-US" dirty="0"/>
              <a:t>y for 5 task(s):   [Class-IL]: </a:t>
            </a:r>
            <a:r>
              <a:rPr lang="en-US" b="1" dirty="0"/>
              <a:t>80.31</a:t>
            </a:r>
            <a:r>
              <a:rPr lang="en-US" dirty="0"/>
              <a:t> %   [Task-IL]: 98.82 %</a:t>
            </a:r>
            <a:endParaRPr lang="it-IT" dirty="0"/>
          </a:p>
          <a:p>
            <a:pPr marL="0" indent="0">
              <a:buNone/>
            </a:pPr>
            <a:r>
              <a:rPr lang="en-US" dirty="0"/>
              <a:t>Raw accuracy values: Class-IL [90.922, 78.746, 57.577, 77.14, 97.176] | Task-IL [99.764, 97.698, 99.306, 99.496, 97.832]</a:t>
            </a:r>
            <a:endParaRPr lang="it-IT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8E1ACB-F5BF-148B-8001-AEBC3E1C5622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061254" cy="4859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backbone MNISTMPL</a:t>
            </a:r>
          </a:p>
          <a:p>
            <a:r>
              <a:rPr lang="it-IT" dirty="0"/>
              <a:t>Ewc </a:t>
            </a:r>
          </a:p>
          <a:p>
            <a:pPr lvl="1"/>
            <a:r>
              <a:rPr lang="it-IT" dirty="0"/>
              <a:t>E_lambda: 10</a:t>
            </a:r>
          </a:p>
          <a:p>
            <a:pPr lvl="1"/>
            <a:r>
              <a:rPr lang="it-IT" dirty="0"/>
              <a:t>Gamma: 5</a:t>
            </a:r>
          </a:p>
          <a:p>
            <a:r>
              <a:rPr lang="it-IT" dirty="0"/>
              <a:t>Alpha=0.2</a:t>
            </a:r>
          </a:p>
          <a:p>
            <a:r>
              <a:rPr lang="it-IT" dirty="0"/>
              <a:t>Lr=0.03</a:t>
            </a:r>
          </a:p>
          <a:p>
            <a:r>
              <a:rPr lang="it-IT" dirty="0"/>
              <a:t>N_epochs=1</a:t>
            </a:r>
          </a:p>
          <a:p>
            <a:r>
              <a:rPr lang="it-IT" dirty="0"/>
              <a:t>Batch_size=10</a:t>
            </a:r>
          </a:p>
          <a:p>
            <a:r>
              <a:rPr lang="it-IT" dirty="0"/>
              <a:t>Optimizer= </a:t>
            </a:r>
            <a:r>
              <a:rPr lang="it-IT" b="1" dirty="0"/>
              <a:t>sgd</a:t>
            </a:r>
          </a:p>
          <a:p>
            <a:endParaRPr lang="it-IT" dirty="0"/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499251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B8FB9-F71F-F46C-2111-904B8CF5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CD559-93C2-8201-445F-DFA41F4D7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Der Tests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8F794-3FE0-AB1F-24B3-9F5A8502A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6908" y="1837982"/>
            <a:ext cx="6503773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Accuracy for 1 task(s):   [Class-IL]: 99.91 %   [Task-IL]: 99.91 %</a:t>
            </a:r>
          </a:p>
          <a:p>
            <a:pPr marL="0" indent="0">
              <a:buNone/>
            </a:pPr>
            <a:r>
              <a:rPr lang="en-US" dirty="0"/>
              <a:t>Raw accuracy values: Class-IL [99.905] | Task-IL [99.905]</a:t>
            </a:r>
          </a:p>
          <a:p>
            <a:pPr marL="0" indent="0">
              <a:buNone/>
            </a:pPr>
            <a:r>
              <a:rPr lang="en-US" dirty="0"/>
              <a:t>Accuracy for 2 task(s):   [Class-IL]: 97.06 %   [Task-IL]: 99.1 %</a:t>
            </a:r>
          </a:p>
          <a:p>
            <a:pPr marL="0" indent="0">
              <a:buNone/>
            </a:pPr>
            <a:r>
              <a:rPr lang="en-US" dirty="0"/>
              <a:t> Raw accuracy values: Class-IL [95.981, 98.139] | Task-IL [99.811, 98.384]</a:t>
            </a:r>
          </a:p>
          <a:p>
            <a:pPr marL="0" indent="0">
              <a:buNone/>
            </a:pPr>
            <a:r>
              <a:rPr lang="en-US" dirty="0"/>
              <a:t>Accuracy for 3 task(s):   [Class-IL]: 94.73 %   [Task-IL]: 99.4 %</a:t>
            </a:r>
          </a:p>
          <a:p>
            <a:pPr marL="0" indent="0">
              <a:buNone/>
            </a:pPr>
            <a:r>
              <a:rPr lang="en-US" dirty="0"/>
              <a:t>Raw accuracy values: Class-IL [96.548, 88.541, 99.093] | Task-IL [99.764, 98.531, 99.893]</a:t>
            </a:r>
          </a:p>
          <a:p>
            <a:pPr marL="0" indent="0">
              <a:buNone/>
            </a:pPr>
            <a:r>
              <a:rPr lang="en-US" dirty="0"/>
              <a:t>Accuracy for 4 task(s):   [Class-IL]: 91.32 %   [Task-IL]: 99.01 %</a:t>
            </a:r>
          </a:p>
          <a:p>
            <a:pPr marL="0" indent="0">
              <a:buNone/>
            </a:pPr>
            <a:r>
              <a:rPr lang="en-US" dirty="0"/>
              <a:t> Raw accuracy values: Class-IL [95.414, 87.071, 84.205, 98.59] | Task-IL [99.858, 97.307, 99.039, 99.849]</a:t>
            </a:r>
          </a:p>
          <a:p>
            <a:pPr marL="0" indent="0">
              <a:buNone/>
            </a:pPr>
            <a:r>
              <a:rPr lang="en-US" dirty="0">
                <a:effectLst/>
              </a:rPr>
              <a:t>Accurac</a:t>
            </a:r>
            <a:r>
              <a:rPr lang="en-US" dirty="0"/>
              <a:t>y for 5 task(s):   [Class-IL]: </a:t>
            </a:r>
            <a:r>
              <a:rPr lang="en-US" b="1" dirty="0"/>
              <a:t>80.71 %</a:t>
            </a:r>
            <a:r>
              <a:rPr lang="en-US" dirty="0"/>
              <a:t>   [Task-IL]: 98.55 %</a:t>
            </a:r>
          </a:p>
          <a:p>
            <a:pPr marL="0" indent="0">
              <a:buNone/>
            </a:pPr>
            <a:r>
              <a:rPr lang="en-US" dirty="0"/>
              <a:t> Raw accuracy values: Class-IL [91.678, 75.22, 59.765, 79.255, 97.63] | Task-IL [99.716, 97.111, 98.613, 99.194, 98.134]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D0B21E-BF58-D538-DF94-B6AF1A9F101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4061254" cy="4859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backbone MNISTMPL</a:t>
            </a:r>
          </a:p>
          <a:p>
            <a:r>
              <a:rPr lang="it-IT" b="1" dirty="0"/>
              <a:t>No Ewc</a:t>
            </a:r>
            <a:endParaRPr lang="it-IT" dirty="0"/>
          </a:p>
          <a:p>
            <a:r>
              <a:rPr lang="it-IT" dirty="0"/>
              <a:t>Alpha=0.2</a:t>
            </a:r>
          </a:p>
          <a:p>
            <a:r>
              <a:rPr lang="it-IT" dirty="0"/>
              <a:t>Lr=0.03</a:t>
            </a:r>
          </a:p>
          <a:p>
            <a:r>
              <a:rPr lang="it-IT" dirty="0"/>
              <a:t>N_epochs=1</a:t>
            </a:r>
          </a:p>
          <a:p>
            <a:r>
              <a:rPr lang="it-IT" dirty="0"/>
              <a:t>Batch_size=10</a:t>
            </a:r>
          </a:p>
          <a:p>
            <a:r>
              <a:rPr lang="it-IT" dirty="0"/>
              <a:t>Optimizer= </a:t>
            </a:r>
            <a:r>
              <a:rPr lang="it-IT" b="1" dirty="0"/>
              <a:t>sgd</a:t>
            </a:r>
          </a:p>
          <a:p>
            <a:endParaRPr lang="it-IT" dirty="0"/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  <a:p>
            <a:endParaRPr lang="it-IT" dirty="0"/>
          </a:p>
          <a:p>
            <a:pPr marL="0" indent="0">
              <a:buFont typeface="Arial" panose="020B0604020202020204" pitchFamily="34" charset="0"/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692192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58FFC-0933-6B1A-BB5A-DBC63046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31781-F5C6-9BC1-B3FE-9CF2B737B5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0825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10053</TotalTime>
  <Words>4137</Words>
  <Application>Microsoft Office PowerPoint</Application>
  <PresentationFormat>Widescreen</PresentationFormat>
  <Paragraphs>427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ePROP mammoth</vt:lpstr>
      <vt:lpstr>PowerPoint Presentation</vt:lpstr>
      <vt:lpstr>Espinoza NMNIST</vt:lpstr>
      <vt:lpstr>Espinoza NMNIST</vt:lpstr>
      <vt:lpstr>PowerPoint Presentation</vt:lpstr>
      <vt:lpstr>PowerPoint Presentation</vt:lpstr>
      <vt:lpstr>Qualche test</vt:lpstr>
      <vt:lpstr>Qualche test</vt:lpstr>
      <vt:lpstr>Qualche test</vt:lpstr>
      <vt:lpstr>Qualche test</vt:lpstr>
      <vt:lpstr>Qualche test</vt:lpstr>
      <vt:lpstr>Qualche test</vt:lpstr>
      <vt:lpstr>Qualche test</vt:lpstr>
      <vt:lpstr>Qualche test</vt:lpstr>
      <vt:lpstr>Qualche test</vt:lpstr>
      <vt:lpstr>Qualche test</vt:lpstr>
      <vt:lpstr>Qualche test</vt:lpstr>
      <vt:lpstr>Qualche test</vt:lpstr>
      <vt:lpstr>Qualche test</vt:lpstr>
      <vt:lpstr>PowerPoint Presentation</vt:lpstr>
      <vt:lpstr>PowerPoint Presentation</vt:lpstr>
      <vt:lpstr>PowerPoint Presentation</vt:lpstr>
      <vt:lpstr>Der Tests</vt:lpstr>
      <vt:lpstr>Der Tests</vt:lpstr>
      <vt:lpstr>Der Tests</vt:lpstr>
      <vt:lpstr>Der Tests</vt:lpstr>
      <vt:lpstr>Der Tests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LORENZO TARTARINI</dc:creator>
  <cp:lastModifiedBy>LORENZO TARTARINI</cp:lastModifiedBy>
  <cp:revision>18</cp:revision>
  <dcterms:created xsi:type="dcterms:W3CDTF">2026-03-24T13:47:35Z</dcterms:created>
  <dcterms:modified xsi:type="dcterms:W3CDTF">2026-03-31T13:20:56Z</dcterms:modified>
</cp:coreProperties>
</file>